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ac5d053b1546de" /><Relationship Type="http://schemas.openxmlformats.org/officeDocument/2006/relationships/extended-properties" Target="/docProps/app.xml" Id="R5c7aa69b68c94d08" /><Relationship Type="http://schemas.openxmlformats.org/officeDocument/2006/relationships/officeDocument" Target="/ppt/presentation.xml" Id="R32624fe1277e40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eb3490f1dc4bef"/>
  </p:sldMasterIdLst>
  <p:notesMasterIdLst>
    <p:notesMasterId xmlns:r="http://schemas.openxmlformats.org/officeDocument/2006/relationships" r:id="R6a98852cc7ae432a"/>
  </p:notesMasterIdLst>
  <p:sldIdLst>
    <p:sldId xmlns:r="http://schemas.openxmlformats.org/officeDocument/2006/relationships" id="256" r:id="R7a4bfc507e71460f"/>
    <p:sldId xmlns:r="http://schemas.openxmlformats.org/officeDocument/2006/relationships" id="257" r:id="Rce3063efd4dc43c3"/>
    <p:sldId xmlns:r="http://schemas.openxmlformats.org/officeDocument/2006/relationships" id="258" r:id="R3d76e336bc384113"/>
    <p:sldId xmlns:r="http://schemas.openxmlformats.org/officeDocument/2006/relationships" id="259" r:id="Rf4997401f3114ff9"/>
    <p:sldId xmlns:r="http://schemas.openxmlformats.org/officeDocument/2006/relationships" id="260" r:id="Re634eb0822a347de"/>
    <p:sldId xmlns:r="http://schemas.openxmlformats.org/officeDocument/2006/relationships" id="261" r:id="Rf7fba3190eaf4dc9"/>
    <p:sldId xmlns:r="http://schemas.openxmlformats.org/officeDocument/2006/relationships" id="262" r:id="Rcd4cdf92d0d34926"/>
    <p:sldId xmlns:r="http://schemas.openxmlformats.org/officeDocument/2006/relationships" id="263" r:id="R6ce652a66f864ff8"/>
    <p:sldId xmlns:r="http://schemas.openxmlformats.org/officeDocument/2006/relationships" id="264" r:id="R38959272c565400f"/>
    <p:sldId xmlns:r="http://schemas.openxmlformats.org/officeDocument/2006/relationships" id="265" r:id="R139f1b06f7d04952"/>
    <p:sldId xmlns:r="http://schemas.openxmlformats.org/officeDocument/2006/relationships" id="266" r:id="R2d0a1635cea34e60"/>
    <p:sldId xmlns:r="http://schemas.openxmlformats.org/officeDocument/2006/relationships" id="267" r:id="R825a9be558c84f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b3490f1dc4bef" /><Relationship Type="http://schemas.openxmlformats.org/officeDocument/2006/relationships/theme" Target="/ppt/theme/theme1.xml" Id="R98ee2f3732e641b8" /><Relationship Type="http://schemas.openxmlformats.org/officeDocument/2006/relationships/notesMaster" Target="/ppt/notesMasters/notesMaster1.xml" Id="R6a98852cc7ae432a" /><Relationship Type="http://schemas.openxmlformats.org/officeDocument/2006/relationships/presProps" Target="/ppt/presProps.xml" Id="R0ea0aea3c8684a68" /><Relationship Type="http://schemas.openxmlformats.org/officeDocument/2006/relationships/viewProps" Target="/ppt/viewProps.xml" Id="Rd880c93b6d924284" /><Relationship Type="http://schemas.openxmlformats.org/officeDocument/2006/relationships/tableStyles" Target="/ppt/tableStyles.xml" Id="R7c53b20db4ce4f21" /><Relationship Type="http://schemas.openxmlformats.org/officeDocument/2006/relationships/slide" Target="/ppt/slides/slide1.xml" Id="R7a4bfc507e71460f" /><Relationship Type="http://schemas.openxmlformats.org/officeDocument/2006/relationships/slide" Target="/ppt/slides/slide2.xml" Id="Rce3063efd4dc43c3" /><Relationship Type="http://schemas.openxmlformats.org/officeDocument/2006/relationships/slide" Target="/ppt/slides/slide3.xml" Id="R3d76e336bc384113" /><Relationship Type="http://schemas.openxmlformats.org/officeDocument/2006/relationships/slide" Target="/ppt/slides/slide4.xml" Id="Rf4997401f3114ff9" /><Relationship Type="http://schemas.openxmlformats.org/officeDocument/2006/relationships/slide" Target="/ppt/slides/slide5.xml" Id="Re634eb0822a347de" /><Relationship Type="http://schemas.openxmlformats.org/officeDocument/2006/relationships/slide" Target="/ppt/slides/slide6.xml" Id="Rf7fba3190eaf4dc9" /><Relationship Type="http://schemas.openxmlformats.org/officeDocument/2006/relationships/slide" Target="/ppt/slides/slide7.xml" Id="Rcd4cdf92d0d34926" /><Relationship Type="http://schemas.openxmlformats.org/officeDocument/2006/relationships/slide" Target="/ppt/slides/slide8.xml" Id="R6ce652a66f864ff8" /><Relationship Type="http://schemas.openxmlformats.org/officeDocument/2006/relationships/slide" Target="/ppt/slides/slide9.xml" Id="R38959272c565400f" /><Relationship Type="http://schemas.openxmlformats.org/officeDocument/2006/relationships/slide" Target="/ppt/slides/slide10.xml" Id="R139f1b06f7d04952" /><Relationship Type="http://schemas.openxmlformats.org/officeDocument/2006/relationships/slide" Target="/ppt/slides/slide11.xml" Id="R2d0a1635cea34e60" /><Relationship Type="http://schemas.openxmlformats.org/officeDocument/2006/relationships/slide" Target="/ppt/slides/slide12.xml" Id="R825a9be558c84f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8e991049e0b4b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7289527ac24252" /><Relationship Type="http://schemas.openxmlformats.org/officeDocument/2006/relationships/notesMaster" Target="/ppt/notesMasters/notesMaster1.xml" Id="R81c70efa5d714a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230f3823ce4407" /><Relationship Type="http://schemas.openxmlformats.org/officeDocument/2006/relationships/notesMaster" Target="/ppt/notesMasters/notesMaster1.xml" Id="R443744ba94df49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9bfa91616b473d" /><Relationship Type="http://schemas.openxmlformats.org/officeDocument/2006/relationships/notesMaster" Target="/ppt/notesMasters/notesMaster1.xml" Id="R4cd8fdb837ff46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c50ddd0eeb4a7e" /><Relationship Type="http://schemas.openxmlformats.org/officeDocument/2006/relationships/notesMaster" Target="/ppt/notesMasters/notesMaster1.xml" Id="Rfbe98785038a44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1e05c25c544224" /><Relationship Type="http://schemas.openxmlformats.org/officeDocument/2006/relationships/notesMaster" Target="/ppt/notesMasters/notesMaster1.xml" Id="R710291034b0f42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6abc4012ff480c" /><Relationship Type="http://schemas.openxmlformats.org/officeDocument/2006/relationships/notesMaster" Target="/ppt/notesMasters/notesMaster1.xml" Id="R896b5aea9dc841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05f7a163d24696" /><Relationship Type="http://schemas.openxmlformats.org/officeDocument/2006/relationships/notesMaster" Target="/ppt/notesMasters/notesMaster1.xml" Id="R19d86ab8eefa45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2ca61dc1af4024" /><Relationship Type="http://schemas.openxmlformats.org/officeDocument/2006/relationships/notesMaster" Target="/ppt/notesMasters/notesMaster1.xml" Id="Re881d326dde541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30f6e523bf4fbf" /><Relationship Type="http://schemas.openxmlformats.org/officeDocument/2006/relationships/notesMaster" Target="/ppt/notesMasters/notesMaster1.xml" Id="R8bac1bfd372848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4522f98ff64c02" /><Relationship Type="http://schemas.openxmlformats.org/officeDocument/2006/relationships/notesMaster" Target="/ppt/notesMasters/notesMaster1.xml" Id="Ra8c5b968ea7743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7ca67cdf9e4c3a" /><Relationship Type="http://schemas.openxmlformats.org/officeDocument/2006/relationships/notesMaster" Target="/ppt/notesMasters/notesMaster1.xml" Id="R811613ef38144a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201f7b22084c31" /><Relationship Type="http://schemas.openxmlformats.org/officeDocument/2006/relationships/notesMaster" Target="/ppt/notesMasters/notesMaster1.xml" Id="Ra718225705c841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Sentinal as a single control center for cloud reliability teams managing EC2 fleets.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Sentinal Platform README.md - project overview, recovery flow, architecture, endpoints, and deployment model.</a:t>
            </a:r>
          </a:p>
          <a:p xmlns:a="http://schemas.openxmlformats.org/drawingml/2006/main">
            <a:r>
              <a:t>- frontend/src/pages/DashboardPage.jsx - current instances dashboard, chat workspace, snapshot selection, and embedded Grafana metrics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pain in terms of MTTR, cognitive overload, and poor institutional memory after incidents.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Sentinal Platform README.md - project overview, recovery flow, architecture, endpoints, and deployment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make the product feel cohesive: not just monitoring, but action plus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Sentinal Platform README.md - project overview, recovery flow, architecture, endpoints, and deployment model.</a:t>
            </a:r>
          </a:p>
          <a:p xmlns:a="http://schemas.openxmlformats.org/drawingml/2006/main">
            <a:r>
              <a:t>- frontend/src/pages/DashboardPage.jsx - current instances dashboard, chat workspace, snapshot selection, and embedded Grafana metrics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this is already reflected in the frontend wizard and designed to reduce onboarding friction.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frontend/src/components/ec2/InstanceRegistrationWizard.jsx - onboarding flow, role/stack guidance, Node Exporter, Prometheus, and Grafana installation steps.</a:t>
            </a:r>
          </a:p>
          <a:p xmlns:a="http://schemas.openxmlformats.org/drawingml/2006/main">
            <a:r>
              <a:t>- Sentinal Platform README.md - project overview, recovery flow, architecture, endpoints, and deployment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reliability and auditability: the flow is deterministic, explainable, and backed by stored state transitions.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Sentinal Platform README.md - project overview, recovery flow, architecture, endpoints, and deployment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from user-facing UI to control plane to external integrations and AI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Sentinal Platform README.md - project overview, recovery flow, architecture, endpoints, and deployment model.</a:t>
            </a:r>
          </a:p>
          <a:p xmlns:a="http://schemas.openxmlformats.org/drawingml/2006/main">
            <a:r>
              <a:t>- frontend/src/pages/DashboardPage.jsx - current instances dashboard, chat workspace, snapshot selection, and embedded Grafana metrics UI.</a:t>
            </a:r>
          </a:p>
          <a:p xmlns:a="http://schemas.openxmlformats.org/drawingml/2006/main">
            <a:r>
              <a:t>- Sentinal AI/sentinel_ai_agent.py - lifecycle snapshot analysis prompt, SambaNova-backed AI flow, and analysis output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make it clear that the backend is a stateful control plane, not only a data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Sentinal Platform README.md - project overview, recovery flow, architecture, endpoints, and deployment model.</a:t>
            </a:r>
          </a:p>
          <a:p xmlns:a="http://schemas.openxmlformats.org/drawingml/2006/main">
            <a:r>
              <a:t>- frontend/src/services/ec2Service.js - frontend API calls for incidents, metrics, and /ai/agenticai/analyse.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one of the strongest differentiators. It moves from telemetry collection to explainable incident narratives.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Sentinal Platform README.md - project overview, recovery flow, architecture, endpoints, and deployment model.</a:t>
            </a:r>
          </a:p>
          <a:p xmlns:a="http://schemas.openxmlformats.org/drawingml/2006/main">
            <a:r>
              <a:t>- frontend/src/pages/DashboardPage.jsx - current instances dashboard, chat workspace, snapshot selection, and embedded Grafana metrics UI.</a:t>
            </a:r>
          </a:p>
          <a:p xmlns:a="http://schemas.openxmlformats.org/drawingml/2006/main">
            <a:r>
              <a:t>- frontend/src/services/ec2Service.js - frontend API calls for incidents, metrics, and /ai/agenticai/analyse.</a:t>
            </a:r>
          </a:p>
          <a:p xmlns:a="http://schemas.openxmlformats.org/drawingml/2006/main">
            <a:r>
              <a:t>- Sentinal AI/sentinel_ai_agent.py - lifecycle snapshot analysis prompt, SambaNova-backed AI flow, and analysis output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move to SambaNova-backed analysis and the importance of grounding every answer in timestamps and metrics from the selected incident.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Sentinal AI/sentinel_ai_agent.py - lifecycle snapshot analysis prompt, SambaNova-backed AI flow, and analysis output contract.</a:t>
            </a:r>
          </a:p>
          <a:p xmlns:a="http://schemas.openxmlformats.org/drawingml/2006/main">
            <a:r>
              <a:t>- frontend/src/services/ec2Service.js - frontend API calls for incidents, metrics, and /ai/agenticai/analyse.</a:t>
            </a:r>
          </a:p>
          <a:p xmlns:a="http://schemas.openxmlformats.org/drawingml/2006/main">
            <a:r>
              <a:t>- frontend/src/pages/DashboardPage.jsx - current instances dashboard, chat workspace, snapshot selection, and embedded Grafana metrics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good moment to talk through the fixed sidebar, richer metrics UI, and snapshot-driven AI chat.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frontend/src/pages/DashboardPage.jsx - current instances dashboard, chat workspace, snapshot selection, and embedded Grafana metrics UI.</a:t>
            </a:r>
          </a:p>
          <a:p xmlns:a="http://schemas.openxmlformats.org/drawingml/2006/main">
            <a:r>
              <a:t>- frontend/src/components/ec2/InstanceRegistrationWizard.jsx - onboarding flow, role/stack guidance, Node Exporter, Prometheus, and Grafana installation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as the combination of operational speed, security posture, and post-incident 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Sentinal Platform README.md - project overview, recovery flow, architecture, endpoints, and deployment model.</a:t>
            </a:r>
          </a:p>
          <a:p xmlns:a="http://schemas.openxmlformats.org/drawingml/2006/main">
            <a:r>
              <a:t>- frontend/src/components/ec2/InstanceRegistrationWizard.jsx - onboarding flow, role/stack guidance, Node Exporter, Prometheus, and Grafana installation steps.</a:t>
            </a:r>
          </a:p>
          <a:p xmlns:a="http://schemas.openxmlformats.org/drawingml/2006/main">
            <a:r>
              <a:t>- Sentinal AI/sentinel_ai_agent.py - lifecycle snapshot analysis prompt, SambaNova-backed AI flow, and analysis output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that the project already demonstrates product thinking, backend systems design, cloud security, and AI integration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Sentinal Platform README.md - project overview, recovery flow, architecture, endpoints, and deployment model.</a:t>
            </a:r>
          </a:p>
          <a:p xmlns:a="http://schemas.openxmlformats.org/drawingml/2006/main">
            <a:r>
              <a:t>- frontend/src/pages/DashboardPage.jsx - current instances dashboard, chat workspace, snapshot selection, and embedded Grafana metrics UI.</a:t>
            </a:r>
          </a:p>
          <a:p xmlns:a="http://schemas.openxmlformats.org/drawingml/2006/main">
            <a:r>
              <a:t>- Sentinal AI/sentinel_ai_agent.py - lifecycle snapshot analysis prompt, SambaNova-backed AI flow, and analysis output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e1fc5456048f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2053F48D-528A-495E-8A59-A767C82CF77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A377C364-F21B-4E3B-B658-AF521D3D915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3193C18-1094-439C-ACDF-19CA8B3C691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26C9EC-77AE-4BE7-AA11-43559398174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C738C-0F95-4C46-BD2F-D92D88FD58E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b411ec04d1e4efc" /><Relationship Type="http://schemas.openxmlformats.org/officeDocument/2006/relationships/slideLayout" Target="/ppt/slideLayouts/slideLayout2.xml" Id="Ra1e4c4d28c4747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697513-1D36-4083-9356-949BA09F2E4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e4c4d28c4747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48470627574774" /><Relationship Type="http://schemas.openxmlformats.org/officeDocument/2006/relationships/image" Target="/ppt/media/image.png" Id="Re5bb8082b4ff4246" /><Relationship Type="http://schemas.openxmlformats.org/officeDocument/2006/relationships/notesSlide" Target="/ppt/notesSlides/notesSlide1.xml" Id="R4a4af487282e49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c4d2bdc6124350" /><Relationship Type="http://schemas.openxmlformats.org/officeDocument/2006/relationships/image" Target="/ppt/media/image2.png" Id="R3c1f4ab7252a45e1" /><Relationship Type="http://schemas.openxmlformats.org/officeDocument/2006/relationships/notesSlide" Target="/ppt/notesSlides/notesSlide2.xml" Id="R90ad9c00e3044d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5aae89219448fe" /><Relationship Type="http://schemas.openxmlformats.org/officeDocument/2006/relationships/image" Target="/ppt/media/image3.png" Id="R44e936b8afd441a7" /><Relationship Type="http://schemas.openxmlformats.org/officeDocument/2006/relationships/notesSlide" Target="/ppt/notesSlides/notesSlide3.xml" Id="Rcce2a2a4eee346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4e871a0e1a44e9" /><Relationship Type="http://schemas.openxmlformats.org/officeDocument/2006/relationships/image" Target="/ppt/media/image4.png" Id="R9f03c92c657a4499" /><Relationship Type="http://schemas.openxmlformats.org/officeDocument/2006/relationships/notesSlide" Target="/ppt/notesSlides/notesSlide4.xml" Id="Rf1014f72388e47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04c87dcce8429c" /><Relationship Type="http://schemas.openxmlformats.org/officeDocument/2006/relationships/image" Target="/ppt/media/image5.png" Id="R5acf91357f824f25" /><Relationship Type="http://schemas.openxmlformats.org/officeDocument/2006/relationships/notesSlide" Target="/ppt/notesSlides/notesSlide5.xml" Id="Rcb183cf703574f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0e27dd9e1e4c61" /><Relationship Type="http://schemas.openxmlformats.org/officeDocument/2006/relationships/image" Target="/ppt/media/image6.png" Id="R97e90383899d4872" /><Relationship Type="http://schemas.openxmlformats.org/officeDocument/2006/relationships/notesSlide" Target="/ppt/notesSlides/notesSlide6.xml" Id="Rd58bd53b9b8d47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88a4926fae4087" /><Relationship Type="http://schemas.openxmlformats.org/officeDocument/2006/relationships/image" Target="/ppt/media/image7.png" Id="Re244f63c9b9a489c" /><Relationship Type="http://schemas.openxmlformats.org/officeDocument/2006/relationships/notesSlide" Target="/ppt/notesSlides/notesSlide7.xml" Id="Rdc9f3b96c9dd40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f1acc0943b4c92" /><Relationship Type="http://schemas.openxmlformats.org/officeDocument/2006/relationships/image" Target="/ppt/media/image8.png" Id="Ra1db0f2f607246fd" /><Relationship Type="http://schemas.openxmlformats.org/officeDocument/2006/relationships/notesSlide" Target="/ppt/notesSlides/notesSlide8.xml" Id="Rec0e0a940ee545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a33febfdc84f23" /><Relationship Type="http://schemas.openxmlformats.org/officeDocument/2006/relationships/image" Target="/ppt/media/image9.png" Id="Ra1503058076945ea" /><Relationship Type="http://schemas.openxmlformats.org/officeDocument/2006/relationships/notesSlide" Target="/ppt/notesSlides/notesSlide9.xml" Id="Re269ef211c2641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892737846640dc" /><Relationship Type="http://schemas.openxmlformats.org/officeDocument/2006/relationships/image" Target="/ppt/media/image10.png" Id="R8893c74b20b64969" /><Relationship Type="http://schemas.openxmlformats.org/officeDocument/2006/relationships/notesSlide" Target="/ppt/notesSlides/notesSlide10.xml" Id="R206bc22bf13c49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c076997aba4c4a" /><Relationship Type="http://schemas.openxmlformats.org/officeDocument/2006/relationships/image" Target="/ppt/media/image11.png" Id="R280ef7e2b4d1452e" /><Relationship Type="http://schemas.openxmlformats.org/officeDocument/2006/relationships/notesSlide" Target="/ppt/notesSlides/notesSlide11.xml" Id="R1478ce33d2484b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a7b8a1c3334129" /><Relationship Type="http://schemas.openxmlformats.org/officeDocument/2006/relationships/image" Target="/ppt/media/image12.png" Id="R8e0e3eb51bfe417a" /><Relationship Type="http://schemas.openxmlformats.org/officeDocument/2006/relationships/notesSlide" Target="/ppt/notesSlides/notesSlide12.xml" Id="R2dbe4b0c24da4f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4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C738C-0F95-4C46-BD2F-D92D88FD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b8082b4ff424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477F2-36F6-4B0A-AA7E-209284F7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FE0FD-BFCB-46C5-ADA6-D887D5B9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CD1E9-6BC3-4D11-B7A7-88CCADF9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D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B4733-9884-4D19-A482-D8659AF3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381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A130F-3B5B-408D-A099-A9558BE6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B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939AE-4345-4E18-9BD0-430C970F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07111F">
              <a:alpha val="60000"/>
            </a:srgbClr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54174-F442-4929-B25D-8E27DFE4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6300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CEE82-0456-47D6-AA8F-880A458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B4AFE-CBAC-4B09-B306-937373AA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B5AD5-C7C1-4756-8E9C-4BEB0C90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CFA80-6736-4F0E-8C60-AA6CC7B6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6A95E-3BDC-474F-A587-14F1567C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2D34F-B33D-4C82-8610-3080D6F4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46F4E-32EE-48CD-9379-79FD68A5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A02E6-86A9-4C59-9B28-79394356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3EE0F-BD06-4C68-BCD0-694F8654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C2879-D1D4-4E67-B120-26BEF88F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B675F-42E3-465D-BAF1-4FB16861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4AC7E-F488-4F5D-91BC-608747EC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4DF9C4-97E8-4273-9AF7-3C321EF1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DD6074-D6B5-438A-9DF0-A6E0109C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97C17-F8B3-4166-916C-24AEC738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4890C2-CB08-4968-9E47-FDE7D6C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8F37ED-B755-4E9A-B11A-2B999A2B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00B848-ABC7-4E76-86C2-33D0BB09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D7A732-1E6D-4A32-9C18-8D97F903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1912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07111F">
              <a:alpha val="90980"/>
            </a:srgbClr>
          </a:solidFill>
          <a:ln xmlns:a="http://schemas.openxmlformats.org/drawingml/2006/main" w="11430">
            <a:solidFill>
              <a:srgbClr val="1731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9F7BFA-5D4E-499F-8393-728BA2B4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952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FE9C51-9AAF-4180-B796-E062EF52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047750"/>
            <a:ext cx="42291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213BE9-CAF1-43F2-AA1F-6791117F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00450"/>
            <a:ext cx="42291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A79903-DFC8-435D-88B2-0D4F7813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097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571B8F-8EA7-4CCE-A6CF-55A543CE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097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0766D9-03A9-4C06-A6A0-9C118F2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3830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15 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9106F8-55A2-47D3-951B-3CFB40CB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907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BE"/>
                </a:solidFill>
              </a:defRPr>
            </a:pPr>
            <a:r>
              <a:rPr sz="1200" b="0">
                <a:solidFill>
                  <a:srgbClr val="9CB7BE"/>
                </a:solidFill>
              </a:rPr>
              <a:t>health polling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77454E-F365-4BAA-9FBF-C9DC5DBF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384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backend evaluation loop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DC36E0-8AA7-4D09-96A3-6E5CDF5A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097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466AA9-919C-43C0-84BF-19C2BF1C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097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CBF60A-3987-4E67-89FA-3A479423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3830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363026-A686-4C18-AF16-570CB98A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BE"/>
                </a:solidFill>
              </a:defRPr>
            </a:pPr>
            <a:r>
              <a:rPr sz="1200" b="0">
                <a:solidFill>
                  <a:srgbClr val="9CB7BE"/>
                </a:solidFill>
              </a:rPr>
              <a:t>snapshot per incident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9D9130-3F70-4033-ABC2-A93107C2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384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full lifecycle sealed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9B8448-9A66-4196-8BB1-22BB2D74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624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26E639-5820-4731-922C-6F1830D2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624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5D7963-CB26-4812-BACF-C5568E32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9100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F88E18-AB02-4904-BFC2-2276FFB4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434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BE"/>
                </a:solidFill>
              </a:defRPr>
            </a:pPr>
            <a:r>
              <a:rPr sz="1200" b="0">
                <a:solidFill>
                  <a:srgbClr val="9CB7BE"/>
                </a:solidFill>
              </a:rPr>
              <a:t>grafana panels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2AAE52-D032-4F4C-B1C6-FE54A08C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911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CPU, memory, disk, network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2840F1-80BF-49B4-B14F-14CB1B7B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624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AA56D1-D7DC-43DC-A86D-6ECF9FF2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624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81F965-5C49-4B33-88ED-7540327F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9100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01BA65-C2BC-4ADC-A446-37450AF5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434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BE"/>
                </a:solidFill>
              </a:defRPr>
            </a:pPr>
            <a:r>
              <a:rPr sz="1200" b="0">
                <a:solidFill>
                  <a:srgbClr val="9CB7BE"/>
                </a:solidFill>
              </a:rPr>
              <a:t>root cause analysis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3E8A7C-D117-4870-9171-99673AA9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911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SambaNova-backed service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81283F-0F25-435F-A8D3-90F528FE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DCFF"/>
                </a:solidFill>
              </a:defRPr>
            </a:pPr>
            <a:r>
              <a:rPr sz="975" b="1">
                <a:solidFill>
                  <a:srgbClr val="1DDCFF"/>
                </a:solidFill>
              </a:rPr>
              <a:t>Sentinal Platform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2F253E-27BE-4BAD-BDFB-7D53771E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AI-powered EC2 monitoring, recovery, and incident analysis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F55D96-DB55-450C-A8EB-7A82A91F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7BE"/>
                </a:solidFill>
              </a:defRPr>
            </a:pPr>
            <a:r>
              <a:rPr sz="1500" b="0">
                <a:solidFill>
                  <a:srgbClr val="9CB7BE"/>
                </a:solidFill>
              </a:rPr>
              <a:t>A cloud operations platform that monitors live instances, performs deterministic self-healing, captures full incident lifecycles, and explains failures through an integrated AI workspace.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118F75-FA34-4D00-B886-21047F37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7314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A7AA73-D277-4A19-9369-41FB8CE0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Monitor. Recover. Explain.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5A2426-FA6B-468A-998A-5E8BC015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Slide content is based on the current Sentinal repository implementation; all visible copy and structure remain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620695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4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C738C-0F95-4C46-BD2F-D92D88FD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f4ab7252a45e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E663B-CBC2-4679-A1A3-C4CEC6B8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E2A20-36E0-4B97-9983-FA306305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7D8F9-B8ED-4BBF-ACF0-5806E5DE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D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06957-9604-4524-98C5-A65C74CE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381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1E646-F4B0-45ED-87D9-25597513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B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895C3-B169-452A-9BCC-75CBCB48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07111F">
              <a:alpha val="60000"/>
            </a:srgbClr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2C7EE-E65D-403F-96F6-951950E0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6300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B708D-E4C0-43AE-9E47-8CCDC2F9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31BAC-4ADE-4E1E-9119-ECCD76F5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984D2-3781-4102-932E-9D5FBA69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162D8-B43F-46ED-A5D0-6DCD6B74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31034-76EA-481D-A93C-1076879C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7B525-F174-4643-8EE6-989057AB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417B5-0456-4B45-8EA2-86BD14AA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9D923-0AEC-4C78-B7C5-3E134E68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20E81-D8B4-4139-8C22-28287C07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C43DA-1F8D-4392-98E7-5A379399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A5E8F-623C-4EDC-AC76-2554132E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C55D8-389F-47F9-A1B7-8CBA731B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CF6CA-C067-4240-99C9-D388ABC9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B2325-FCB3-42C1-AE01-0D03D3FA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5E0C86-DC82-40EF-9569-CC62FAE2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FDEDC-8429-42FD-991F-AB8208D8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974BF-B9BE-4502-996D-164C9C52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3E12C3-5BEC-435C-9F75-E079882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CEEA10-A51C-48C9-AFA4-FDB2E355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PROBLEM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E9BCCC-5AB5-4D38-B89A-3957F020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02 /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83B502-BDE1-432A-8611-CECCF2EF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055F7E-098C-46E4-B0CA-6C478026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11430">
            <a:solidFill>
              <a:srgbClr val="09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0161C4-76C8-41FC-A77E-740E3704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668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C1B2C"/>
          </a:solidFill>
          <a:ln xmlns:a="http://schemas.openxmlformats.org/drawingml/2006/main" w="9525">
            <a:solidFill>
              <a:srgbClr val="1938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8A7EAF-76E3-452E-B497-AC255E8E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525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B7BE"/>
                </a:solidFill>
              </a:defRPr>
            </a:pPr>
            <a:r>
              <a:rPr sz="825" b="0">
                <a:solidFill>
                  <a:srgbClr val="9CB7BE"/>
                </a:solidFill>
              </a:rPr>
              <a:t>live registry 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2A44E8-563B-4152-9F2C-C33FB974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6101D">
              <a:alpha val="92157"/>
            </a:srgbClr>
          </a:solidFill>
          <a:ln xmlns:a="http://schemas.openxmlformats.org/drawingml/2006/main" w="11430">
            <a:solidFill>
              <a:srgbClr val="17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82F54C-94CD-4B87-95B6-A14FA310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362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C57751-0DCC-45CC-831F-27E0A1D7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716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registry aligned</a:t>
            </a:r>
          </a:p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operator 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BA2600-E1BC-41FC-8337-6A62ED93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40A14"/>
                </a:solidFill>
              </a:defRPr>
            </a:pPr>
            <a:r>
              <a:rPr sz="3000" b="1">
                <a:solidFill>
                  <a:srgbClr val="040A14"/>
                </a:solidFill>
              </a:rPr>
              <a:t>Cloud incidents are still too manual, fragmented, and slow to explain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D40E17-0D4F-4EBE-B52E-6677B120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40A14"/>
                </a:solidFill>
              </a:defRPr>
            </a:pPr>
            <a:r>
              <a:rPr sz="1425" b="0">
                <a:solidFill>
                  <a:srgbClr val="040A14"/>
                </a:solidFill>
              </a:rPr>
              <a:t>Operators often jump between cloud consoles, metrics dashboards, logs, and notes before they even understand what failed first.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3CA992-990C-41D4-AF44-4BE50E7F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26FC4A-17E7-495F-A6B2-669D6D09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57ACF0-7951-4DDC-A9C0-71DC62A3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C0E486-C74C-4728-9253-E8A4BF78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768DFD-EEE8-4CEC-8BDA-EFD7CDE3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B010E3-5FBE-4D47-B468-496E5D9E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400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BD583C-F96F-4049-BCCE-3A95CD41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41721C-99C7-4A57-B6BA-64BCAE3B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Reactive troubleshooting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35C5D1-90F5-44DF-9835-FED87C2F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Teams usually discover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issues after service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degradation, then spend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valuable time reconstructing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the incident from scattered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tools and timestamps.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FD6B08-1CDB-44D3-9D0C-462DFF27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C2DE74-5102-49D1-B1F1-11F2D8A4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89E539-F494-46CA-83E7-04003C01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6CE6DA-FCE0-4E16-BE3C-920B274D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F56DB6-1649-435C-8F1E-F14F9470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17B8C8-536A-43B1-BEAB-4EC50116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752FAB-F025-421F-97CC-CDEBC87C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438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329214-B4C2-4C04-BBCB-E21561B6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Disconnected telemetry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08AB66-F0B1-42E4-8A62-323DBDBF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Instance state, health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checks, infrastructure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metrics, and remediation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actions often live in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separate systems with no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unified operator workflow.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549B37-5BAB-4CCC-9836-E9C579F4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2BF99C-D9F6-4E74-9816-92938D1E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14A264-5808-4468-BB3A-8DB2BE10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4F3FC4-3154-466C-83A0-23D3412F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9D331F7-5A10-401B-89B4-F9CAABC7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343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BFF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F79ADA-D674-4E08-A2CF-6EBB4A2E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429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54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F0D9B04-03F1-4559-87CB-9D434F54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514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3D8970-A877-4147-A91A-AA36ADAD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Weak post-incident insight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77236A-92A1-45BF-AD4B-71732238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Even after recovery 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termination, many teams keep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only fragments of evidence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instead of one complete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timeline that can be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analysed later.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DF1250-35D2-41BD-90B4-925E185E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Slide content is based on the current Sentinal repository implementation; all visible copy and structure remain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758676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4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C738C-0F95-4C46-BD2F-D92D88FD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936b8afd441a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4017D-D7B4-4F16-BE27-65E709F0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A0CC1-0582-4D88-899E-2B2F775E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6DFDE-33C3-4E21-BBE6-EF13FFF6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D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5291E-B9F3-4190-9350-4D7671E8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381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0297C-CEC0-4C61-8F52-A3C361F7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B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75A18-3A33-40BE-86F7-00ED3A5C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07111F">
              <a:alpha val="60000"/>
            </a:srgbClr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22CE0-DF3A-489B-8756-C4F6B71D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6300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3A260-0203-43BB-95B9-5790E6B3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BEE2B-4600-4D7E-A658-E9E69DFF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9BDE1-9D0C-4611-97EA-0F60D781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1BFB9-2058-4DF0-A65F-2A34EFCE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3836E-8059-44D9-B2F5-FB4688D3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810EF-8407-4A80-BCCA-8A919DAD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44335-C878-4C91-8E47-1E6EC31B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5FD7B-F28C-4391-BA89-E2690D10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00B89-5664-4096-AB2B-72E63CA5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5CA3A-B8A4-4328-B15E-C3FC1261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5E0551-57AD-4ADA-AE7C-7AD1605A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18011-BB17-4BF5-82C7-9EAE7B0E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B4B63-5D2C-4B3F-AD6F-AC263E9D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4168DD-9B21-4F7B-A76F-AC71F688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7B7E20-B1FD-4878-8D40-3F8C3C47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4E8A9-2A50-4C56-BB57-CCF532A9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BBB8AA-6CCC-466E-89CB-D4E2B298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85CD01-DC9E-4123-B665-732DBB9A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08B04E-A59F-46D1-8ABC-36C2A21D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SOLUTION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D22F14-61A2-41D7-BB4F-E66FED57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03 /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23CC5-A3AD-477B-9FBA-AF0A0CE4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52E6CB-6482-4B25-8FD2-21221226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11430">
            <a:solidFill>
              <a:srgbClr val="09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1C8A48-8D8D-4DC4-9690-5556A351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668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C1B2C"/>
          </a:solidFill>
          <a:ln xmlns:a="http://schemas.openxmlformats.org/drawingml/2006/main" w="9525">
            <a:solidFill>
              <a:srgbClr val="1938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5ECF52-11BE-4DD9-B88C-B394AC7C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525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B7BE"/>
                </a:solidFill>
              </a:defRPr>
            </a:pPr>
            <a:r>
              <a:rPr sz="825" b="0">
                <a:solidFill>
                  <a:srgbClr val="9CB7BE"/>
                </a:solidFill>
              </a:rPr>
              <a:t>live registry 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94538C-2269-45FF-A0A7-1FD8D842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6101D">
              <a:alpha val="92157"/>
            </a:srgbClr>
          </a:solidFill>
          <a:ln xmlns:a="http://schemas.openxmlformats.org/drawingml/2006/main" w="11430">
            <a:solidFill>
              <a:srgbClr val="17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9E4FF6-C061-48CC-8AB5-60BC9F05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40A14"/>
                </a:solidFill>
              </a:defRPr>
            </a:pPr>
            <a:r>
              <a:rPr sz="3000" b="1">
                <a:solidFill>
                  <a:srgbClr val="040A14"/>
                </a:solidFill>
              </a:rPr>
              <a:t>Sentinal turns EC2 monitoring into an operational control center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D15786-102A-49E9-B30A-D4BEDF86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40A14"/>
                </a:solidFill>
              </a:defRPr>
            </a:pPr>
            <a:r>
              <a:rPr sz="1425" b="0">
                <a:solidFill>
                  <a:srgbClr val="040A14"/>
                </a:solidFill>
              </a:rPr>
              <a:t>The platform combines monitoring, recovery orchestration, observability, and AI incident explanation in one product experience.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6D3804-94F0-43EB-942C-27CB6366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3143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A99300-2AD0-4D8B-8A68-62184220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24376C-AB41-476E-9B9F-D4BAAB8F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15 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F8F977-DF2D-4C0C-8F6A-2F68A59C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BE"/>
                </a:solidFill>
              </a:defRPr>
            </a:pPr>
            <a:r>
              <a:rPr sz="1200" b="0">
                <a:solidFill>
                  <a:srgbClr val="9CB7BE"/>
                </a:solidFill>
              </a:rPr>
              <a:t>Polling cadence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AFE154-812F-42E0-90ED-0C282E96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README: Sentinal continuously polls registered EC2 instances every 15 seconds.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1DA556-EA30-46DC-9B7D-1C17C80B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3143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9118C2-E788-468B-9A21-E7876663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876401-5A2D-4037-9F73-CF6F20C3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D0904D-BB2F-4AC0-BC3E-D516B5DE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577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BE"/>
                </a:solidFill>
              </a:defRPr>
            </a:pPr>
            <a:r>
              <a:rPr sz="1200" b="0">
                <a:solidFill>
                  <a:srgbClr val="9CB7BE"/>
                </a:solidFill>
              </a:rPr>
              <a:t>Lifecycle snapshot per incident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FE22CD-4526-46ED-A59F-D49A7C77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244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Closed incidents are sealed into one record covering the full path from SUSPECT to UP or TERMINATED.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03F7C4-EB24-4EF6-B492-7FFB4BAA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3143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8C9AE5-505B-4C15-9588-AA37D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8563D5-2670-4D68-8538-46D76AA6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C7C7A8-014D-48AE-90F5-5A3D2A51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577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BE"/>
                </a:solidFill>
              </a:defRPr>
            </a:pPr>
            <a:r>
              <a:rPr sz="1200" b="0">
                <a:solidFill>
                  <a:srgbClr val="9CB7BE"/>
                </a:solidFill>
              </a:rPr>
              <a:t>Core operator surfaces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FBFDC9-AEC9-4D93-9D20-317B3773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244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Instances dashboard, Grafana metrics workspace, and AI chat analysis screen.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2CACD3-3EE6-4E93-ADCE-3CADF482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Slide content is based on the current Sentinal repository implementation; all visible copy and structure remain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731566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4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C738C-0F95-4C46-BD2F-D92D88FD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3c92c657a449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4BEA7-41A8-42D8-919F-7BAFD837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5BF0B-EC9E-47E9-9986-FAEBCEE9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699F0-29BA-4F2D-A49D-06923DD7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D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C13BA-7B7B-4832-B7CC-AD024EE3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381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09A88-1A64-43D5-8EAC-5E643040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B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BE36A-5DE7-4A70-B316-B6DB8528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07111F">
              <a:alpha val="60000"/>
            </a:srgbClr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2708E-5937-4C36-93E1-BFEB9AEF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6300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54B4B-17DB-47AA-B2C0-A3C2C741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9D808-7F77-4B85-AC85-F0D749DD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A25FF-4285-4FE6-BD84-21A61813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C1B29-1B91-4F93-BCBD-5AD0E9DB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84FBF-7615-40C5-A707-6769E11E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CF92B-DBFD-4C1A-8ED1-8E6CB325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98AA8-CB4A-4F7C-92FD-75066B97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83BBA-5D2A-4BE3-A5DF-62DEC51F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11C43-72E0-4246-9720-4B818F34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CAFBC-D1EA-4ACE-A9C5-89CE8332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0F083-F70B-4A5F-9F6F-A3BD472F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53FA-13D2-4448-A583-1F70CE4E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4FB10-DBEA-4578-A4F6-018E4195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204236-4129-41D6-8DC7-97F74594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58DD97-1D3D-4102-9A00-C381CB96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84506E-5C7F-4BAB-976B-CB68AE74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D27732-E409-467F-959B-4DE47AF1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AB8C96-22BD-4756-857D-D286D437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E4C52A-AC3E-4A2A-A51E-80D01DC3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ONBOARDING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BBF01E-1E28-474C-8895-46E9BE85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04 /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2861E5-303E-4A8A-AC19-02677F24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59DDD3-FFB0-4CAA-A974-1545EF3D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11430">
            <a:solidFill>
              <a:srgbClr val="09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0B17B1-10E6-402D-8B39-4C30C0C3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668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C1B2C"/>
          </a:solidFill>
          <a:ln xmlns:a="http://schemas.openxmlformats.org/drawingml/2006/main" w="9525">
            <a:solidFill>
              <a:srgbClr val="1938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35164F-36BF-4D6B-9AB0-AB896D41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525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B7BE"/>
                </a:solidFill>
              </a:defRPr>
            </a:pPr>
            <a:r>
              <a:rPr sz="825" b="0">
                <a:solidFill>
                  <a:srgbClr val="9CB7BE"/>
                </a:solidFill>
              </a:rPr>
              <a:t>live registry 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9EFB90-B1E7-45D6-9839-14745653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6101D">
              <a:alpha val="92157"/>
            </a:srgbClr>
          </a:solidFill>
          <a:ln xmlns:a="http://schemas.openxmlformats.org/drawingml/2006/main" w="11430">
            <a:solidFill>
              <a:srgbClr val="17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21FB67-0D46-4663-A703-2F3318C5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362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177B5B-B068-4F96-9E10-41897D19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716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registry aligned</a:t>
            </a:r>
          </a:p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operator 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98874E-9CFA-4DD3-8BE7-79B81945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40A14"/>
                </a:solidFill>
              </a:defRPr>
            </a:pPr>
            <a:r>
              <a:rPr sz="3000" b="1">
                <a:solidFill>
                  <a:srgbClr val="040A14"/>
                </a:solidFill>
              </a:rPr>
              <a:t>The onboarding flow mirrors the real backend contract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BA0A6D-877A-4860-950A-D28DB3C0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40A14"/>
                </a:solidFill>
              </a:defRPr>
            </a:pPr>
            <a:r>
              <a:rPr sz="1425" b="0">
                <a:solidFill>
                  <a:srgbClr val="040A14"/>
                </a:solidFill>
              </a:rPr>
              <a:t>Users register ownership and location first, then grant cross-account access, then install the monitoring stack the platform depends 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6C6755-57D6-4E77-9745-4AC16947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957F7B-025D-4F02-A3C4-9720A7D5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E371EC-6EC1-4965-B868-CF60AA80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87FC3D-AEB7-4900-8D83-122858CD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3A63DD-3E5D-4E81-B194-1909FC2D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316053-2EA2-4617-90F1-B42AE858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400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D0AC77-4499-4758-A135-A6B0A977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FD2892-1B3E-4257-95C1-91C56363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Instance registration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946730-75F6-48C4-B266-D866E65A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The flow starts with AWS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account ID, EC2 instance ID,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region, and a friendly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nickname so the backend can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identify and track the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target.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AA032A-A293-4599-B556-E6EAB48E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1B1F9D-68C1-4172-AA97-ACA0B9F3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2997B2-DBAC-4F3F-B224-5E51357D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22A7F9-D9B5-467F-A052-DB005CEA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C09215-93E4-461B-A476-C50B2A56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AA9B5B-99A1-4481-AD4A-6D28A7A1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406AF5-CB9A-4012-AF18-AC609B78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438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4465BA-4597-42FB-96AA-30B25E61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Role or stack setup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752D5E-450A-4F87-BEED-67E16736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Sentinal uses cross-account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IAM. Users create a role or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CloudFormation stack in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their own AWS account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instead of sharing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credentials directly.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11D6B3-7805-4160-B5AF-564785F0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1DC35B-A892-4DBB-9145-723F6661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2A7FBE-10BE-4566-B192-42280AF4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573856-62AB-4987-BA97-29DE7FDE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CF56A8-8962-462E-8DE7-CD1B93AF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343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BFF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3E78071-B019-4D49-A031-CE2B1BE1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429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54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51E6C33-85FD-4A1B-BB53-2439CE1D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514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734CF8B-7B85-40BC-9A2D-01CF3D2F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Monitoring stack guidance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C690BE-2DEC-4814-913E-CA387B9B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After permissions are ready,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the platform guides users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through installing Node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Exporter, Prometheus, and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Grafana so metrics can be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scraped and embedded.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6F2604-3A80-43AE-BDF5-1131C43E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Slide content is based on the current Sentinal repository implementation; all visible copy and structure remain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1484874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4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C738C-0F95-4C46-BD2F-D92D88FD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f91357f824f2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90C01-EFD6-480C-974F-CE82329A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684B6-F29D-4697-BC3B-20BC4636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022C5-5FD9-478D-8226-637D8517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D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8D07F-3D3D-400F-996C-5CDE2E6D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381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9E73E-6B73-4D32-B698-5CD13CF7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B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29077-CBA6-4E59-A523-A0B453B6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07111F">
              <a:alpha val="60000"/>
            </a:srgbClr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5D791-E29F-4FCA-A765-841034F6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6300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C4EF1-9FEE-43E7-9AFD-C6527F20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EA32C-7141-4B9D-B494-47310753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910BE-5286-46DD-B1FF-6897E90B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5AF9C-D5CF-4948-ADDC-DEF75DE7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99F69-BAB9-45D9-AC7C-6F07905A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DE037-F2DA-4E86-977C-9A80CF41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43888-2D20-4500-99CD-A223AF09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B57FF-62F2-424B-ABD5-F3D874B2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3E3A12-4EB3-4378-AFAB-F70C74D8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712C6-6AD4-4056-8079-33F966D4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E0D6C-A78D-4F0C-B57A-BCD7EC59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7FA36-349F-4C88-BDC9-7E0E2A0B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435D9-AD77-4A2B-A493-520D78A3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69616-C135-4F50-83E4-601A0CA4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D551FA-A594-4DA1-96B7-C7A17684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38E67-7C5B-4D92-9E48-0BCC99F2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E17F29-891D-4251-B6BB-CB3CF230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CC8217-9D50-409E-9D34-94CD2141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911940-87A3-4514-AF2C-E0769CF3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RECOVERY ENGINE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819574-0282-427B-9A22-0A7ED0B4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05 /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C83EA8-B542-4C7D-8279-B03D7C01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008DB1-2F3B-4C4A-B0AE-9E0D2567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11430">
            <a:solidFill>
              <a:srgbClr val="09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743164-A3C0-4E41-A877-8C570A3A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668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C1B2C"/>
          </a:solidFill>
          <a:ln xmlns:a="http://schemas.openxmlformats.org/drawingml/2006/main" w="9525">
            <a:solidFill>
              <a:srgbClr val="1938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1F1C05-6B7E-4C02-918A-BA507803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525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B7BE"/>
                </a:solidFill>
              </a:defRPr>
            </a:pPr>
            <a:r>
              <a:rPr sz="825" b="0">
                <a:solidFill>
                  <a:srgbClr val="9CB7BE"/>
                </a:solidFill>
              </a:rPr>
              <a:t>live registry 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095B6D-0D8D-427B-B733-1EAA9D11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6101D">
              <a:alpha val="92157"/>
            </a:srgbClr>
          </a:solidFill>
          <a:ln xmlns:a="http://schemas.openxmlformats.org/drawingml/2006/main" w="11430">
            <a:solidFill>
              <a:srgbClr val="17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AB3420-4161-4169-AFBA-FC029EEA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362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3DE599-2951-46B4-BDCE-6CF0209A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716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registry aligned</a:t>
            </a:r>
          </a:p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operator 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16289A-7B96-4DB8-BDE3-D8013E4A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40A14"/>
                </a:solidFill>
              </a:defRPr>
            </a:pPr>
            <a:r>
              <a:rPr sz="3000" b="1">
                <a:solidFill>
                  <a:srgbClr val="040A14"/>
                </a:solidFill>
              </a:rPr>
              <a:t>A deterministic state machine drives self-healing decisions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A72663-5284-4851-B547-CF7795CC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40A14"/>
                </a:solidFill>
              </a:defRPr>
            </a:pPr>
            <a:r>
              <a:rPr sz="1425" b="0">
                <a:solidFill>
                  <a:srgbClr val="040A14"/>
                </a:solidFill>
              </a:rPr>
              <a:t>Sentinal does not rely on vague heuristics alone. It follows explicit state transitions and records each step of the recovery attempt.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D2811A-E6EC-4B30-B0AA-AF768505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DECF5A-81E2-4CA8-BA8A-A970A9D8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CB1318-55FD-4661-BD08-65E3BF94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71C527-765A-47A0-8A21-7BB74D00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8A5F0E-6C08-49FA-8F2C-68C69805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4FDF84-0ADF-4CD3-88C7-286DB4A5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400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D7E867-0508-472F-8532-DEE891E3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2801C4-C51F-455F-A370-6CC14F34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UP → SUSPECT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86986F-7DD6-4A8B-AA77-198D5A07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When health checks begin to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fail, the instance first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enters SUSPECT and the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platform starts an incident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timeline instead of making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an immediate irreversible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decision.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DE0B7E-DBA4-44B2-9F46-51FEBFFA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587F3F-279A-4EF4-A3B3-3EB2F917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B4C719-E699-4326-9BEC-F9141933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DFB9CD-ED20-40DC-AD07-40F0420D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42D8B0-4822-4DF8-B16E-F6EADB47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276B69-0509-4515-A4E7-FE206C9F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DD3CF4-361D-4484-860E-55358970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438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BB0EF3-1007-4BA6-A755-5E9FFA1A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SUSPECT → QUARANTINED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E3B8908-1B40-4AC8-9DF8-4740AAF8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Repeated degradation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escalates the incident into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quarantine, where recovery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policies, strike counts, and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automated actions are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applied in a controlled way.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AE868B-8BFC-49F3-883B-1DA324FD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384D4F-F9A2-4D04-9E6B-9BCC32A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391EE3-F953-48BC-9C71-A2E3342C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12C186-B72F-4C31-8BFE-C7D207FC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FF9263-3433-4B22-B6F3-5792CD81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343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BFF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19C7AC-E4EB-4E1F-9685-D13DADE2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429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54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5DADAB-58B1-4E4C-ACFA-06A0BBF1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514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3C2DBB-5AC1-494B-9B0B-1F895775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Resolved or terminated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78D686-2C1D-46A9-A210-1E3BE86D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The incident ends either in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recovery back to UP or final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termination. That final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outcome seals the lifecycle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snapshot for later review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and AI analysis.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8376E9-5384-4061-B8A9-A828F176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Slide content is based on the current Sentinal repository implementation; all visible copy and structure remain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380679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4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C738C-0F95-4C46-BD2F-D92D88FD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90383899d487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126AD-9479-454E-A7DF-14FD95C5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C8608-1A85-4581-BE1A-7A0A4AB0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30E16-F7E5-4BAE-9AF5-2746517D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D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E5E29-A27A-4BDC-9C09-06626BF6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381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DEBE9-874F-4E5B-9D8D-C5107D35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B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8B9B7-6D0E-4BE4-AC84-5193E9FE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07111F">
              <a:alpha val="60000"/>
            </a:srgbClr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5D0AC-C0FC-4E20-AF01-0BAE0EA8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6300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B85CB-E028-45D6-A298-5693B0EA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A8AB0-4ADD-4D03-B80C-E634C54A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88095-787F-4D22-ADD7-D499D05A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693ED-0E7B-436C-8B93-580121A4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FF2AC-0A0F-439B-82C4-5493F53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57FB8-5CC0-4AAA-B96C-BEC0F590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D4652-1237-44F5-8378-529A94B7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94EA3-1260-4CC3-9D0B-A4A6034F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6B736-BADD-456B-B7CA-124430A9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0C8EA-C212-44BC-9BE7-7CF145B7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B7119-13E2-4A6D-8E00-44767025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63960-A882-4E28-BB42-D641FBA9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F32428-8F5A-49C5-837B-7DFF0ECC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502F55-8F16-45E0-A17F-8F4F7FB8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0346CF-4569-43AF-BF60-71FFE296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704C00-7B2B-4ED3-BEDB-1E735E57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6EE788-DE42-4E25-B63D-703F428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5E1A73-4655-448E-AE04-DB804614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8AE850-A20A-42B5-BD02-9B6D712D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ARCHITECTURE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F38D53-5F4D-44F8-B64C-BA17D3C1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06 /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EBE2D3-8CDC-46F7-AEAA-F0184E27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871873-E7C1-4850-AAE7-B4828611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11430">
            <a:solidFill>
              <a:srgbClr val="09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E82CF-3ED2-4A1D-A93A-B4CBA89D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668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C1B2C"/>
          </a:solidFill>
          <a:ln xmlns:a="http://schemas.openxmlformats.org/drawingml/2006/main" w="9525">
            <a:solidFill>
              <a:srgbClr val="1938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32C929-20C2-4FF0-9DEF-67AE46DF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525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B7BE"/>
                </a:solidFill>
              </a:defRPr>
            </a:pPr>
            <a:r>
              <a:rPr sz="825" b="0">
                <a:solidFill>
                  <a:srgbClr val="9CB7BE"/>
                </a:solidFill>
              </a:rPr>
              <a:t>live registry 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B16244-C2D9-41EB-988C-6C575761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6101D">
              <a:alpha val="92157"/>
            </a:srgbClr>
          </a:solidFill>
          <a:ln xmlns:a="http://schemas.openxmlformats.org/drawingml/2006/main" w="11430">
            <a:solidFill>
              <a:srgbClr val="17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FB6D31-200B-4038-8DC7-5C3E7435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40A14"/>
                </a:solidFill>
              </a:defRPr>
            </a:pPr>
            <a:r>
              <a:rPr sz="3000" b="1">
                <a:solidFill>
                  <a:srgbClr val="040A14"/>
                </a:solidFill>
              </a:rPr>
              <a:t>The architecture separates product UX, control logic, telemetry, and AI reasoning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74CC70-7110-4DC1-B495-DD3313F8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40A14"/>
                </a:solidFill>
              </a:defRPr>
            </a:pPr>
            <a:r>
              <a:rPr sz="1425" b="0">
                <a:solidFill>
                  <a:srgbClr val="040A14"/>
                </a:solidFill>
              </a:rPr>
              <a:t>Sentinal is designed as a layered system so each concern remains independently understandable and maintainable.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183A27-51AA-44EB-8644-9854A998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3143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3ABEFB-CC02-40BD-BD98-4F88C892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2BD86B-6C78-4411-B90F-BA10270B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BC326E-7157-4585-A2F9-D28CA2B3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BE"/>
                </a:solidFill>
              </a:defRPr>
            </a:pPr>
            <a:r>
              <a:rPr sz="1200" b="0">
                <a:solidFill>
                  <a:srgbClr val="9CB7BE"/>
                </a:solidFill>
              </a:rPr>
              <a:t>Operator frontend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92AC7C-C7A6-41FB-9B2A-B6E6077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Instances dashboard, registration wizard, snapshot-aware chat workspace, and embedded Grafana metrics.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3D4943-39AC-4084-B210-33C94982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3143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7898EF-ADF2-485D-8142-88CC128D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BEB1D2-BD2B-4C7A-9817-01AED2C0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Spring Boot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7A9117-7DCA-4660-AE60-A49E4731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577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BE"/>
                </a:solidFill>
              </a:defRPr>
            </a:pPr>
            <a:r>
              <a:rPr sz="1200" b="0">
                <a:solidFill>
                  <a:srgbClr val="9CB7BE"/>
                </a:solidFill>
              </a:rPr>
              <a:t>Registry backend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6F2510-4417-4FE1-8609-50E3B60A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244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Owns users, instances, incidents, lifecycle state, metrics access, and secure API endpoints.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055D85-644E-43A5-88A7-D946C71C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3143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4C878B-6810-4C06-91E8-5C9827BD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44DDE8-C6A2-4DCC-A0EC-D370834F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FastAPI + SambaNova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80FD14-622A-46B1-AB04-E63B8388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577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BE"/>
                </a:solidFill>
              </a:defRPr>
            </a:pPr>
            <a:r>
              <a:rPr sz="1200" b="0">
                <a:solidFill>
                  <a:srgbClr val="9CB7BE"/>
                </a:solidFill>
              </a:rPr>
              <a:t>AI analysis service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02BEEB-1023-4D66-B74A-BEFD08A8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244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Consumes selected lifecycle snapshots and returns root cause, remediation, and combined analysis text.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EE6108-B371-443D-B9D2-C3716AB4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Slide content is based on the current Sentinal repository implementation; all visible copy and structure remain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16994734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4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C738C-0F95-4C46-BD2F-D92D88FD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4f63c9b9a489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DA91F-5D31-483B-A73A-DC1E48ED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7EC96-CA3F-413E-9404-7EAF3AAE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6E142-DB5C-49BC-A781-CEB2C51C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D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14C9E-9A12-45E6-80CD-75063D78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381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71D31-3266-400B-AEB6-661489CE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B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6A01B-CD1C-4F47-A7FB-2EE9529A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07111F">
              <a:alpha val="60000"/>
            </a:srgbClr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C0BA3-E730-4F14-B888-EE16FBA9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6300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2101C-193A-42C0-9396-4F4AA488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F9A3F-43CC-4B8A-B5EC-5D9FFE1C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A75E9-970E-4913-9E73-20BFDFA3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FE624-3546-4759-9424-D374F7EC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85AC9-373F-4D96-859B-F81BF7C6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C8BAB-D5C5-4BB5-979B-04A7C792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3AE56-91C4-4C93-B7B6-F773A0E4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A0DCF-FED9-4E42-8346-A645E41D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777CB-25EF-46DF-8CCC-4D9D7905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3C2EC-E1F2-4003-BBED-7D16EEF6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1C9634-9B37-4629-9795-2F26D7D2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99F85-5240-4A44-9A0F-63EA6930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277B36-B1C3-46F0-9EA2-2B0CD480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A84849-5755-47C7-A290-EB0855B0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E1FE3-4F22-44B5-97FE-B47C7E02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B0736-7931-4418-AA03-CE529CBD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C31E85-2CE0-499C-8A62-CB135778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F4955-EC21-4E21-97EC-AF9BBBB3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81A67E-9A95-4677-8B7F-AE08711E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BACKEND 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C5DCD8-F85A-4A1E-85AC-6482AAE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07 /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97F58E-4499-4CF4-A7D2-B6C9958F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49D654-6634-48D0-B8A7-BB63D256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11430">
            <a:solidFill>
              <a:srgbClr val="09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AF80C9-C5CA-4DF8-8C2B-3402BFBB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668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C1B2C"/>
          </a:solidFill>
          <a:ln xmlns:a="http://schemas.openxmlformats.org/drawingml/2006/main" w="9525">
            <a:solidFill>
              <a:srgbClr val="1938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CB08E8-2129-4EA3-851F-E3E7C0C7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525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B7BE"/>
                </a:solidFill>
              </a:defRPr>
            </a:pPr>
            <a:r>
              <a:rPr sz="825" b="0">
                <a:solidFill>
                  <a:srgbClr val="9CB7BE"/>
                </a:solidFill>
              </a:rPr>
              <a:t>live registry 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BBFA8E-3512-4ABC-874D-C8079CE9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6101D">
              <a:alpha val="92157"/>
            </a:srgbClr>
          </a:solidFill>
          <a:ln xmlns:a="http://schemas.openxmlformats.org/drawingml/2006/main" w="11430">
            <a:solidFill>
              <a:srgbClr val="17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B40B6D-1CE5-4272-9063-A5A9867E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362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D61C33-4E0E-4558-88A6-0A1A7ADB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716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registry aligned</a:t>
            </a:r>
          </a:p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operator 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CFE670-038B-447D-B626-07E4E958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40A14"/>
                </a:solidFill>
              </a:defRPr>
            </a:pPr>
            <a:r>
              <a:rPr sz="3000" b="1">
                <a:solidFill>
                  <a:srgbClr val="040A14"/>
                </a:solidFill>
              </a:rPr>
              <a:t>The backend control plane owns lifecycle state, incidents, and operator-safe actions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79148D-758A-4FC4-A316-EF6E2295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40A14"/>
                </a:solidFill>
              </a:defRPr>
            </a:pPr>
            <a:r>
              <a:rPr sz="1425" b="0">
                <a:solidFill>
                  <a:srgbClr val="040A14"/>
                </a:solidFill>
              </a:rPr>
              <a:t>The Spring Boot registry is more than CRUD. It coordinates polling, recovery transitions, metrics access, and persistence for every monitored instance.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8D96A0-6C1C-4089-869B-AD9ECB4F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71247C-69F1-4559-9C38-EA8B5FD8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CD4414-1D46-46D8-BB80-6E6B7039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9215EF-C52F-4671-A70E-06E323E7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C70328-B46B-4A54-8D82-B1B99956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FD20E7-6CBE-4873-96B6-7D37C80B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400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99AFC9-8532-4494-965A-B9759007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91376C-577B-46BE-AB96-4655E50A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Polling and state evaluation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FC6930-7596-470F-8EED-CCD753D8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Every 15 seconds the backend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checks instance health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through AWS APIs, evaluates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monitor state, and decides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whether the instance remains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UP or enters incident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handling.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26C243-010D-4477-AD72-84FCD303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13F9DB-1CF4-4936-9BEA-BA61FD1C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0CDF6A-7CB3-4046-B91E-EA0D8B11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F1B8C9-1449-4536-979C-8DB5C451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3769CD-9325-4107-908D-8C97F357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32A202-89EA-48A0-9C92-D196D759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0BC8E3-3FF6-41A2-87DF-4A343B7E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438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AB9258-7CC6-4F4A-90C8-22AE830D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Incident orchestration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483DD5-3329-4998-8236-D14DE2B0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When degradation starts, the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backend opens an incident,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tracks suspect strikes and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quarantine cycles, and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records each transition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until the lifecycle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resolves.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49B4FD-0EE2-42B5-894C-5F6E0712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D15EC6-325E-493A-AEC3-395C0989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E783BF-7DCB-496B-99C4-EA1FDAEA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7B659D-3C0A-4151-976F-5FC66796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86FA49-1853-4BBA-9A3B-028F70B7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343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BFF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F3AEAE-2459-4F87-BEBC-FDF947EA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429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54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F09B9F-D5CF-44D8-8BB9-BF88194C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514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41250F-C606-4097-AFF2-BE2B7F2B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Operator and system actions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129F912-C4C5-42B5-9C5B-7EDB392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The same control plane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exposes reset, stop, start,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metrics, incident history,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and manual AI analysis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endpoints so the UI stays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aligned with backend truth.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698620-6C56-4EBD-A92B-A5754CBB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Slide content is based on the current Sentinal repository implementation; all visible copy and structure remain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6739232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4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C738C-0F95-4C46-BD2F-D92D88FD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b0f2f607246f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C64CD-2EC8-4F84-8B62-25E3DF02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0E540-36D2-4837-BCE5-CB28E0E9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D13BE-B380-4E4C-8076-8D10605F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D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A553D-F446-45C4-94FE-A6B73B4A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381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B43C2-E4C1-4C0A-A57C-0A13C6C2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B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E90A8-773C-45F5-BAFA-4AF07E93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07111F">
              <a:alpha val="60000"/>
            </a:srgbClr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1C72F-1251-403C-8F32-1A90CF50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6300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AA39E-E1EC-4FC0-B98F-DB0EE567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20B86-AD32-4D10-B44C-8274E065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F13DE-708A-402F-BB42-178BCE48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D8D2F-2E76-4275-AA42-CAF945C9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F4B62-5977-4305-B0A5-E11DED69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B300C-98EE-49A4-9BBD-7FAD325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7852E-4DBC-4746-AB12-5E1DB09D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A7ADD-7050-4AFF-A3A8-33B5B25A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F16681-E87A-4084-8A35-85D9B005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86B03-A2CE-4C71-BCD3-E6DBBDEA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711243-8059-45A7-B118-2784F77B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C126A-97AE-400D-8E42-15B7D31A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63CBA-66D8-4A45-BFBC-8B4E305C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5AA35-AD00-4FD2-8EF7-1D32CD5E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9F216-F584-4D31-96C0-39E5D5B4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83AAC2-05EE-4900-8B8B-914A4522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3808A0-4C5F-434A-A8E2-3E556BB7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DF1BD-D023-403E-86CE-C654A954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407966-3584-4BE4-8622-2E9F1E1B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INCIDENT INTELLIGENCE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9170BC-0FEA-4DCE-8176-BF68B23B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08 /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EC45D3-E3D8-4EEA-A560-FCE203CB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DBA22F-3039-4143-ADC9-D2287CDB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11430">
            <a:solidFill>
              <a:srgbClr val="09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A261E6-7012-4C7D-AB7B-9ECACA50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668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C1B2C"/>
          </a:solidFill>
          <a:ln xmlns:a="http://schemas.openxmlformats.org/drawingml/2006/main" w="9525">
            <a:solidFill>
              <a:srgbClr val="1938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976226-0CD3-463C-8C0E-22529349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525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B7BE"/>
                </a:solidFill>
              </a:defRPr>
            </a:pPr>
            <a:r>
              <a:rPr sz="825" b="0">
                <a:solidFill>
                  <a:srgbClr val="9CB7BE"/>
                </a:solidFill>
              </a:rPr>
              <a:t>live registry 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3DC9C-32BF-44B0-A7BC-F4D0CA02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6101D">
              <a:alpha val="92157"/>
            </a:srgbClr>
          </a:solidFill>
          <a:ln xmlns:a="http://schemas.openxmlformats.org/drawingml/2006/main" w="11430">
            <a:solidFill>
              <a:srgbClr val="17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44928B-230D-4E8E-92D8-15D3C4B0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362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2EB017-972E-4354-9F51-601D02CC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716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registry aligned</a:t>
            </a:r>
          </a:p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operator 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F03D10-9B2D-4422-B76E-6B4983BB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40A14"/>
                </a:solidFill>
              </a:defRPr>
            </a:pPr>
            <a:r>
              <a:rPr sz="3000" b="1">
                <a:solidFill>
                  <a:srgbClr val="040A14"/>
                </a:solidFill>
              </a:rPr>
              <a:t>Every incident becomes one analysable lifecycle snapshot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0D700E-EA7B-466F-A342-6FD2BCC4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40A14"/>
                </a:solidFill>
              </a:defRPr>
            </a:pPr>
            <a:r>
              <a:rPr sz="1425" b="0">
                <a:solidFill>
                  <a:srgbClr val="040A14"/>
                </a:solidFill>
              </a:rPr>
              <a:t>The newer backend model stores one snapshot per incident from the first SUSPECT signal until the instance recovers or terminates.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806CE9-ABB7-48C0-877D-12E7EAEE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F549D3-17BB-46DC-8400-275410DD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0A77BD-3E90-4779-9931-EB94ABB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77F2DD-E02A-4643-9533-4AC9B4BE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B483D3-03B0-419D-8839-796AFF2B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C2CA4F-A86D-4A6E-A7BF-F219B861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400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C0F1A6-2074-4936-8353-A97A1F3E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6A2434-2A33-41C4-8633-38C29B84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Single source of truth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91D21A-A6EA-4BD0-9833-761DB18A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Instead of scattering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evidence across many partial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records, one snapshot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contains the incident start,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incident end, resolution,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and embedded metrics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timeline.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CCC524-F476-4A1E-B37A-A12ED1EF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70530A-41C4-4EAE-B314-CACC2538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56B177-D4B9-43E0-B86A-DCEDFCFF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D1B6F2-8F90-49E2-94C8-71EBB2BD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E80248-8293-441D-ACD2-AE846F54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47ECC9-243C-4C07-B2D9-336B3D68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569876-871D-452A-95BB-192DB5C0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438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BFEB36-A699-4D8C-B638-9BA9305D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State-transition evidence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6C78CD-9130-4496-B809-961B94D2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Metrics are captured at each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transition interval, so the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AI can reason about what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changed first and how the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incident evolved over time.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52937B-ADC9-48FC-A8BC-9E6B30A5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1D3C35-0BF9-41F0-8AF1-57D2017C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7D3322-0223-4336-A268-5118E44E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5EA4DF-9317-4A8E-875F-2C8C0F39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E068C4-8770-4686-AE52-810A4E56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343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BFF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38F405-F3A1-45E6-8A32-91A0C7FC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429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54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501097-2292-429B-A615-F39C8280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514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147D69-9916-4E65-8DF1-E1234A88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Manual analysis trigger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37B161A-599D-4F4C-8678-50DA4FE8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In the chat screen, the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operator first selects an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instance, then selects a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snapshot, edits the task if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needed, and only then sends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it for AI analysis.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464E81-270B-4DF9-93CD-A406A5F3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Slide content is based on the current Sentinal repository implementation; all visible copy and structure remain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19052161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4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C738C-0F95-4C46-BD2F-D92D88FD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03058076945e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47C29-A040-4643-9049-637579F6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0516A-51D4-4E9F-A0DC-6542E6DA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E6FAF-5E2B-4EFA-A8AE-A81F68E0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D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5E452-A805-4E75-8B3E-9C6D93AA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381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7C6AD-16AC-4E1F-83BE-F58BB0F8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B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799C2-C487-48ED-A4F8-7A34B130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07111F">
              <a:alpha val="60000"/>
            </a:srgbClr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692ED-809D-444B-8B40-137EB571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6300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8B631-70EA-4A7A-82A5-A249897C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5E0A2-6FE1-4A63-BE7A-FC5D3DF9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CADCF-1504-4A1E-BAEB-E04345B1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8B5BA-53C6-4568-BF23-AE6C7E2A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7619D-72A5-4BB2-B442-F03D6288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BC84A-0C10-4838-9453-FAB05116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7E948-B4F3-4FF8-9522-6047296B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C492C-98E8-4FA1-9CF3-381D3D4A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814B5-9BA8-4DD3-B785-9A85A0C1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FCA1D-779A-4846-946A-D090816C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31D3C-8138-46E8-8406-1A93D78C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D07532-D0F6-4C9F-A85D-963EFDF7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F6557-6392-4E86-84FA-58243D00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041BB-A6DA-4C59-8994-4CE4EDD8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75A4F-2C4B-478B-BC0E-E190FF9D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917CD-1077-41A7-B3ED-CB347787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CEEFFF-A5CD-4461-A607-C44F8A43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713DC9-B72D-474D-B1FB-F94B2F40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E5C13C-8CA5-47CD-B0D9-9ED1F819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AI CONTRACT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BF497F-C417-45FF-8DA7-55377E56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09 /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EF32E4-EB25-4D0C-84F1-414CB2D7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8E7289-72CD-413F-9414-15B0432F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11430">
            <a:solidFill>
              <a:srgbClr val="09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870532-97A6-4ADF-9283-A9126768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668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C1B2C"/>
          </a:solidFill>
          <a:ln xmlns:a="http://schemas.openxmlformats.org/drawingml/2006/main" w="9525">
            <a:solidFill>
              <a:srgbClr val="1938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8498CE-C16D-4C5B-BEC3-CAE675D2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525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B7BE"/>
                </a:solidFill>
              </a:defRPr>
            </a:pPr>
            <a:r>
              <a:rPr sz="825" b="0">
                <a:solidFill>
                  <a:srgbClr val="9CB7BE"/>
                </a:solidFill>
              </a:rPr>
              <a:t>live registry 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8AAE25-D445-41CE-97C8-900BA013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6101D">
              <a:alpha val="92157"/>
            </a:srgbClr>
          </a:solidFill>
          <a:ln xmlns:a="http://schemas.openxmlformats.org/drawingml/2006/main" w="11430">
            <a:solidFill>
              <a:srgbClr val="17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B8278F-81C6-4F0A-84A5-6A234B7C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362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A681F0-7F26-491B-8E51-1117B021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716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registry aligned</a:t>
            </a:r>
          </a:p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operator 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85E106-AAAB-429C-9496-785BF564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40A14"/>
                </a:solidFill>
              </a:defRPr>
            </a:pPr>
            <a:r>
              <a:rPr sz="3000" b="1">
                <a:solidFill>
                  <a:srgbClr val="040A14"/>
                </a:solidFill>
              </a:rPr>
              <a:t>The AI service reasons over structured infrastructure evidence, not free-form chat alone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20D0D6-EAE1-4E9C-B815-08657F9A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40A14"/>
                </a:solidFill>
              </a:defRPr>
            </a:pPr>
            <a:r>
              <a:rPr sz="1425" b="0">
                <a:solidFill>
                  <a:srgbClr val="040A14"/>
                </a:solidFill>
              </a:rPr>
              <a:t>The frontend sends a selected snapshot, the backend assembles the payload, and the Python service returns actionable diagnosis that can be stored back against the incident.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033033-83A3-44B8-A464-935C5218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737D52-A99D-4E4D-B224-C6EB1290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FD3D39-1335-4235-B89F-6CD636B3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3A03FA-990E-4791-85B7-3FA97424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CCFBC4-57C6-4641-B275-2B0FA802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566B8E-A849-4EC3-9EEF-7281C3F0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400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A36FF0-8027-4699-ABCC-F5BFDCFB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3828BA-5597-4E24-A278-C7346B12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Input contract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CCF003-493E-4038-906C-AE92B092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The analysis request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includes instance metadata,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the selected lifecycle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incident snapshot, the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embedded metrics timeline,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and any legacy metrics rows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still supplied by the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backend.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44CFF5-F2F6-463B-B07B-478FF522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55615F-9FE9-4CE9-95D7-2664C1E8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B0795C-4199-44CB-9A8F-7F3C0522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AF408F-B997-4C27-A83F-90520767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0455B8-B897-4DBA-BF36-6020F227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AE8DD7-6649-4F77-A969-4BA9CA48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C2B0CA-379B-4DFE-BCAC-CEF5D84B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438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5EDB94-7DD1-46B4-86AB-DD80EDD1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Prompting model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D4D9B2-5464-4B0E-AD62-5062F37A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SentinelAI is instructed to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identify the first degraded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signal, explain state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transitions, infer root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cause, and separate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immediate, short-term, and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long-term remediation.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623230-4367-4D5B-8A2C-5B34BFDF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8625573-8B21-435D-A177-EC199C9F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7F3CD1-584C-4252-A8A1-5C350F1E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E0810E-4084-4F4C-A1B8-D0AF68AE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AF8CB2-7F6A-40BE-832B-2AE0117F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343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BFF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E14572-0515-440B-8E9F-6EDBF5DF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429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54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10F3EC-8CA9-4878-9452-E57702E4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514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3CBFA81-96BC-4199-99D7-6AEDB678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Output contract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A1A628-8383-4A92-B2A2-B70E6B21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The service returns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structured narrative fields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such as root cause,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remediation, and combined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analysis so the UI can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display them and the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database can persist them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for later review.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AAC9BE-6614-484B-852A-4D21E18C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Slide content is based on the current Sentinal repository implementation; all visible copy and structure remain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1645149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4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C738C-0F95-4C46-BD2F-D92D88FD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3c74b20b6496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F982E-757D-4FBC-9D10-02588A3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487D6-A80A-4733-9B5E-70E161B0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DF0F7-8402-4811-9765-45A82F09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D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9D5EA-9E8C-4AEC-9017-6486D412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381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DD147-DE63-4E6E-8347-2CD1404D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B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927CD-10AE-416E-9B05-30192FA5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07111F">
              <a:alpha val="60000"/>
            </a:srgbClr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965AB-4FDF-4E10-91D0-40EC8823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6300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F08EB-F868-454B-A999-A54AFF87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C2680-883F-44CC-B0C8-1548A943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35B88-F200-4691-8980-47EEEED0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98AA9-7BAE-48F5-A8BA-5D3115A9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6CC33-B727-4732-9AB4-01A431C2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56D48-D603-43FA-BF9B-C4B5290E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CDB71-7DB9-45DC-A68D-16BC9051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E5F3F-48F9-48B7-8DCF-A332751D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AC959-5875-4C3A-B30E-7CBFFD3E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EB2D3-C3FD-4DB6-80E0-ABFDCBAF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959A5-B75A-43CB-A3B9-F0A37E2E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56876-7CCB-4EAC-AB65-DA0B2E16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B3E18-03A8-4C48-8103-0F659B8D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11BC5-343B-49E5-8450-BAF11A99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02D5D7-C39B-4E31-9A33-9619FA91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85243E-56AB-46C1-8BBD-899B580C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EF11BE-6E03-4F82-819F-BF8201F3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E6080-E81C-4575-A659-A59B12F1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392A83-3C93-47AB-9FD7-8067B530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FRONTEND EXPERIENCE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AA077B-7D88-4AE8-9B2E-777D59DA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10 /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641DBA-8E61-42DF-9376-7F24D4F2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7F0A35-1E7B-4147-A7FE-96D97534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11430">
            <a:solidFill>
              <a:srgbClr val="09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24EAC4-7187-40CB-9491-4B6C9333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668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C1B2C"/>
          </a:solidFill>
          <a:ln xmlns:a="http://schemas.openxmlformats.org/drawingml/2006/main" w="9525">
            <a:solidFill>
              <a:srgbClr val="1938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E4F691-5BAE-4FDF-A8F2-0BB2DECD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525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B7BE"/>
                </a:solidFill>
              </a:defRPr>
            </a:pPr>
            <a:r>
              <a:rPr sz="825" b="0">
                <a:solidFill>
                  <a:srgbClr val="9CB7BE"/>
                </a:solidFill>
              </a:rPr>
              <a:t>live registry 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83B133-D48E-4B0E-92EC-7FCD30E5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6101D">
              <a:alpha val="92157"/>
            </a:srgbClr>
          </a:solidFill>
          <a:ln xmlns:a="http://schemas.openxmlformats.org/drawingml/2006/main" w="11430">
            <a:solidFill>
              <a:srgbClr val="17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827439-02CF-4254-B1CB-1BABC608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40A14"/>
                </a:solidFill>
              </a:defRPr>
            </a:pPr>
            <a:r>
              <a:rPr sz="3000" b="1">
                <a:solidFill>
                  <a:srgbClr val="040A14"/>
                </a:solidFill>
              </a:rPr>
              <a:t>The UI is built for operators, not just for screenshots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7918BA-B515-4D76-B789-FFF86E04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40A14"/>
                </a:solidFill>
              </a:defRPr>
            </a:pPr>
            <a:r>
              <a:rPr sz="1425" b="0">
                <a:solidFill>
                  <a:srgbClr val="040A14"/>
                </a:solidFill>
              </a:rPr>
              <a:t>The product now presents registration, monitoring, chat analysis, and Grafana telemetry inside one modern workflow.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6BA631-5BF5-4283-8FE9-90E7B492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3143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ECAF92-5E81-4341-97D3-8F4570FB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990E53-E3FE-41AE-96A7-51A66424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489FE8-59FB-4BD6-9EC4-27CDAC0A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BE"/>
                </a:solidFill>
              </a:defRPr>
            </a:pPr>
            <a:r>
              <a:rPr sz="1200" b="0">
                <a:solidFill>
                  <a:srgbClr val="9CB7BE"/>
                </a:solidFill>
              </a:rPr>
              <a:t>Primary workspaces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2E4417-97D0-4E1C-9C65-808C8C48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Instances view for fleet control and chat view for snapshot analysis.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6413FE-27B8-489E-8080-89F7E952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3143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7FC7D7-6336-4011-BC6E-F0114270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816224-36C9-4A6A-8932-632B8CC9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19BD93-1982-4CB0-8AE6-56D84F71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577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BE"/>
                </a:solidFill>
              </a:defRPr>
            </a:pPr>
            <a:r>
              <a:rPr sz="1200" b="0">
                <a:solidFill>
                  <a:srgbClr val="9CB7BE"/>
                </a:solidFill>
              </a:rPr>
              <a:t>Embedded Grafana panels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1EFC84-E855-482E-B2D3-B49245BF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244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CPU, memory, disk, and network are displayed directly inside the dashboard with refresh controls.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593CE3-6D0E-4EDA-81F7-C558FE6D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3143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8AD362-3E2C-42F6-8FD8-D8B33F2B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4DFE58-4250-43DE-865C-B708E431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0 routing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7709C4-C69C-44D8-AECD-8C38E299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577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BE"/>
                </a:solidFill>
              </a:defRPr>
            </a:pPr>
            <a:r>
              <a:rPr sz="1200" b="0">
                <a:solidFill>
                  <a:srgbClr val="9CB7BE"/>
                </a:solidFill>
              </a:rPr>
              <a:t>State-driven shell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E6CAFE-7627-49B3-A591-3340C0D8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244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Sidebar navigation switches screens through React state instead of a routing dependency.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E5381C-8710-44D8-91E7-1C73F998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Slide content is based on the current Sentinal repository implementation; all visible copy and structure remain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19130048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4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C738C-0F95-4C46-BD2F-D92D88FD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ef7e2b4d1452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4600B-DEDA-490B-BC34-5F16D0C5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32A50-840D-4E46-B7D3-FC35BD7D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885BE-797F-4ABA-BA36-4150D517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D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EB4BC-A0E5-4539-AD15-ADD74D5C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381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3BCF9-183A-4CA9-B906-3D328756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B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A202D-57D7-40C7-BA1F-1820C02F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07111F">
              <a:alpha val="60000"/>
            </a:srgbClr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6ECD7-1C70-47FC-B832-C05074F1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6300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512A6-ACA9-4620-B251-354BD261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352C3-1FEF-48CE-880D-8BC03015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89BBA-8195-4A71-B3F7-9E302D47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57E03-EDCF-45F5-B28F-463C1F73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39406-3767-4BC6-9A2B-2139C4FD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05670-8730-4288-9712-FE5299DA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D1922-BB9E-454F-9878-FC0F7498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72257-0276-4886-915C-A5818816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4A2C1-A689-46BC-A3D9-71B9297F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2916F-C880-446A-A379-21BAF4B8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8599D-E145-4D8C-A3E2-EF67C3BD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63132-F2F4-4419-BA05-A1E1B8FB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967C31-9839-4638-970D-626BA621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07F86-282E-43E2-88C9-B94ED7CB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515DA-9B81-49FB-B4F1-FDD68B38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19E22F-5D0F-4BCE-811B-90834273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ED21F8-2003-472E-A329-48A3A4D9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71887-D81D-4C10-9590-52CE3BF5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8BFFC4-F908-4CE3-83BD-6D34A328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VALUE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18E1AE-C6B8-4760-9B38-A7000DE6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11 /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E3BEE3-78CE-4DF5-B264-4F136F91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6A4FE4-B4EA-485A-A4BB-2CD1EE17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11430">
            <a:solidFill>
              <a:srgbClr val="09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97D06C-FDF5-4D3F-987A-A941C2D7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668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C1B2C"/>
          </a:solidFill>
          <a:ln xmlns:a="http://schemas.openxmlformats.org/drawingml/2006/main" w="9525">
            <a:solidFill>
              <a:srgbClr val="1938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206C09-AA41-4BD1-ABEF-CBB6B3DA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525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B7BE"/>
                </a:solidFill>
              </a:defRPr>
            </a:pPr>
            <a:r>
              <a:rPr sz="825" b="0">
                <a:solidFill>
                  <a:srgbClr val="9CB7BE"/>
                </a:solidFill>
              </a:rPr>
              <a:t>live registry 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6CE040-91FF-47E2-8FC5-7318FC37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6101D">
              <a:alpha val="92157"/>
            </a:srgbClr>
          </a:solidFill>
          <a:ln xmlns:a="http://schemas.openxmlformats.org/drawingml/2006/main" w="11430">
            <a:solidFill>
              <a:srgbClr val="17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AD0DBB-E41C-4545-A55E-E5017518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362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A9A84B-C606-4C42-BF4B-B2FBBFAC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716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registry aligned</a:t>
            </a:r>
          </a:p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operator 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7833A8-B6F9-4761-8B5F-6D16DB4B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40A14"/>
                </a:solidFill>
              </a:defRPr>
            </a:pPr>
            <a:r>
              <a:rPr sz="3000" b="1">
                <a:solidFill>
                  <a:srgbClr val="040A14"/>
                </a:solidFill>
              </a:rPr>
              <a:t>Why Sentinal matters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458B70-C70C-4A47-9144-1C4D59CC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40A14"/>
                </a:solidFill>
              </a:defRPr>
            </a:pPr>
            <a:r>
              <a:rPr sz="1425" b="0">
                <a:solidFill>
                  <a:srgbClr val="040A14"/>
                </a:solidFill>
              </a:rPr>
              <a:t>The platform combines reliability automation with operator understanding, which is where many monitoring products still fall short.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CB5661-1599-45D8-B98C-FF2AF29E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660409-12E3-43CF-9D12-ADE8C2A0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7B3137-A289-41CB-9D0C-0723DB0E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492016-387E-4705-9DE0-8C839EF4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14DFB4-F35D-4E59-B8DF-6B206053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48718A-3659-47ED-9535-E8A1429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400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510560-01EB-41F0-BFBA-8B2B5FFD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0FD249-93A6-4849-A6E8-58F10368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Lower mean time to recovery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AB124F-6228-413C-9430-53E32DAA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Sentinal detects failure,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triggers defined recovery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logic, and exposes current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telemetry in one place so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action starts earlier.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0FD48A-9EBE-479F-B910-34D0A124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F64346-B4D1-456A-AC38-AFBCC77A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CCFA50-2A40-410F-90F9-C9429C72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DC57F5-94CC-47A7-9941-D6F2E723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6C379A-0E88-4925-804D-68596156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6BD05D-4A7E-4390-AE09-71C7962A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B99169-9559-428D-989D-649E3D15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438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0311C8-52E6-469C-B6F2-8DB9D6EC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Safer cloud access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AB78A3-2D63-4E7A-B51F-644482F8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Cross-account IAM roles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avoid direct credential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sharing and align with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patterns used by established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monitoring vendors.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3412CD-28D6-4A33-A204-E2AA80D5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2C5E38-8F02-4FF2-8724-87678096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9847FF-4A1B-48EB-8368-2D8B0CC3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27D251-354F-4A2D-988C-59689C6D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E9856C-7B63-4845-AD37-6F06FD36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343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BFF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BAC644-B46E-471F-B1E2-5F707D1D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429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54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BA718A6-1E9F-417F-ACDF-2FE3C294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514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391732-B208-49C1-891B-FDA65681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Explainable operations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C9AA8A-4DEC-4BA7-AB5B-875550D3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The AI layer is grounded in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stored incident evidence,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making recommendations more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reviewable than a generic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chatbot disconnected from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system history.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B47BFB-E256-483A-886A-6A616E90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Slide content is based on the current Sentinal repository implementation; all visible copy and structure remain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14329257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40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C738C-0F95-4C46-BD2F-D92D88FD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e3eb51bfe417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9EE53-298D-4D81-9667-601879DD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A4B8C-EA7F-44E8-835D-4EBC4708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B86B4-1424-418B-B60E-3E8AE7CA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D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FB4BB-487B-47DA-A1FA-5254351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381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11427-B167-4B97-84D6-32E0E989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B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C64FC-9E37-4BD9-B86C-0DB1C7A4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07111F">
              <a:alpha val="60000"/>
            </a:srgbClr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5870F-8C10-4CAD-BBBD-F89508AF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6300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E8980-23F3-4FE2-BE2B-6D3E1C92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655AA-5AF9-4825-A7A4-FEE02B66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B5F9D-4010-4357-BB9E-37548F19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9CE3E-A034-416B-AB90-1AA2F5BA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718B9-799C-4ABC-A97D-034F1C18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CB56E-1762-41AC-8D4E-62FE6C77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A49BD-6A0C-4E87-9F3C-C3C3D68D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9C64F-6068-4A77-B9D4-F7189546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CEC74-D5B1-4820-95A1-4F59509C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64AF6-A99E-42B9-9EFE-4ACEF566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5A209-4BBA-4A79-92D8-F65A4B68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E1554A-4B4A-4432-923F-D754FFAB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28700"/>
            <a:ext cx="95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6AC29-90AE-45B1-BAA4-F0249949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B6B5B-3321-49B2-9293-EACD689C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4D8D4-FD26-41C0-B122-CD686892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00ACA-54C9-45E8-82D6-7679F7A6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6DC5AF-6535-4372-A958-7F410A6D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D0CAC-0EE3-4373-8942-214805DA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2353B-164F-4755-900C-76AA2B97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ROADMAP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27674-0F08-4523-A06F-465970C3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AA8D8"/>
                </a:solidFill>
              </a:defRPr>
            </a:pPr>
            <a:r>
              <a:rPr sz="975" b="1">
                <a:solidFill>
                  <a:srgbClr val="1AA8D8"/>
                </a:solidFill>
              </a:rPr>
              <a:t>12 /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ECA6B5-94D3-4DD2-AF65-79073D7E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7A5B71-EEC3-4722-A283-A6BAE09C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11430">
            <a:solidFill>
              <a:srgbClr val="0920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ACD7B6-57DC-4750-A9C2-C65E52B1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668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C1B2C"/>
          </a:solidFill>
          <a:ln xmlns:a="http://schemas.openxmlformats.org/drawingml/2006/main" w="9525">
            <a:solidFill>
              <a:srgbClr val="1938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F43F6C-E2F3-4120-9FC5-BB8E3C2E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525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B7BE"/>
                </a:solidFill>
              </a:defRPr>
            </a:pPr>
            <a:r>
              <a:rPr sz="825" b="0">
                <a:solidFill>
                  <a:srgbClr val="9CB7BE"/>
                </a:solidFill>
              </a:rPr>
              <a:t>live registry 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18516F-66AC-4BCC-9988-8010AAA5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6101D">
              <a:alpha val="92157"/>
            </a:srgbClr>
          </a:solidFill>
          <a:ln xmlns:a="http://schemas.openxmlformats.org/drawingml/2006/main" w="11430">
            <a:solidFill>
              <a:srgbClr val="17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3756C3-6670-43F7-A096-673F4FFE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362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9525">
            <a:solidFill>
              <a:srgbClr val="173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6B6A9F-F86E-48CD-B444-821EF995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716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registry aligned</a:t>
            </a:r>
          </a:p>
          <a:p xmlns:a="http://schemas.openxmlformats.org/drawingml/2006/main">
            <a:pPr algn="l">
              <a:defRPr sz="900" b="0">
                <a:solidFill>
                  <a:srgbClr val="1DDCFF"/>
                </a:solidFill>
              </a:defRPr>
            </a:pPr>
            <a:r>
              <a:rPr sz="900" b="0">
                <a:solidFill>
                  <a:srgbClr val="1DDCFF"/>
                </a:solidFill>
              </a:rPr>
              <a:t>operator 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3BD890-7F94-4E75-8EC2-2BE49B01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40A14"/>
                </a:solidFill>
              </a:defRPr>
            </a:pPr>
            <a:r>
              <a:rPr sz="3000" b="1">
                <a:solidFill>
                  <a:srgbClr val="040A14"/>
                </a:solidFill>
              </a:rPr>
              <a:t>Next steps to take Sentinal further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5EFFBD-7DEB-4E8B-B7CF-E89FCF8C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40A14"/>
                </a:solidFill>
              </a:defRPr>
            </a:pPr>
            <a:r>
              <a:rPr sz="1425" b="0">
                <a:solidFill>
                  <a:srgbClr val="040A14"/>
                </a:solidFill>
              </a:rPr>
              <a:t>The current build already works as a strong capstone or product demo, and it also creates a clear path for deeper platform maturity.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FEF9E2-901B-46CD-8AE8-78E0A919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4B1693-73B0-4E2E-9282-0BD6A348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E953D9-9DA4-4A13-97DB-242FE826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9F911F-567A-410F-BBCA-A2AC0294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5EE3C4-0DA9-4113-A898-A3DF7FA5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396AF7-A80E-4562-BFB8-9C3356A1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400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682975-9CAF-4765-91B5-CB975101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D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3B33A9-D1C2-4F2D-B50F-CFE21BF3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Broader observability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B23A5A-B656-4ECF-9EB8-52CF6D8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Add richer dashboards, log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correlation, and deeper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workload-specific metrics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beyond core host telemetry.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B3393D-B538-4C95-A723-E2E6626C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3C55F7-FF86-406F-AB30-1EDD9638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8BECC1-504D-4056-8EF3-0991C43A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58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8743DD-7A8A-4656-BB7E-9FC0175B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EF2B8D-65E0-4FE3-B102-AF2C06D1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A83E45-3B29-412F-800B-FEC579DE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58A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6E7651-F3EC-454B-9967-45628CE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438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9AC29F-0051-42B1-BB15-AB87D31E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Smarter automation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58A2BA-B9BE-4695-B644-98BD6F7B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Evolve from analysis and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recommendation into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policy-driven runbooks and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safer automated remediation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workflows.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67F575-8679-4549-9BFA-57F5A4D2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3384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627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CC2935-AC22-4127-9B23-48628237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9718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57D565-4217-4456-8A0F-A9E3D5F0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124200"/>
            <a:ext cx="307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DAF6EC-074E-4760-9D06-CB42280E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1430">
            <a:solidFill>
              <a:srgbClr val="1831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E5AEA3-CA03-4C7C-BADD-E7898277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343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BFF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4EC29A-7182-462A-B1BA-F192F6B7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429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54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D1BE88-8308-4B91-A15D-FA8A134F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514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6615B9-1BC4-4B7F-B488-B69D67C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181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DCFF"/>
                </a:solidFill>
              </a:defRPr>
            </a:pPr>
            <a:r>
              <a:rPr sz="1125" b="1">
                <a:solidFill>
                  <a:srgbClr val="1DDCFF"/>
                </a:solidFill>
              </a:rPr>
              <a:t>Enterprise readiness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49738D-C1EF-4A26-A3DC-B26ACC5D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790950"/>
            <a:ext cx="2927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Add audit trails, multi-team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roles, advanced alert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routing, and richer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reporting to support larger</a:t>
            </a:r>
          </a:p>
          <a:p xmlns:a="http://schemas.openxmlformats.org/drawingml/2006/main">
            <a:pPr algn="l">
              <a:defRPr sz="1275" b="0">
                <a:solidFill>
                  <a:srgbClr val="EAF4F7"/>
                </a:solidFill>
              </a:defRPr>
            </a:pPr>
            <a:r>
              <a:rPr sz="1275" b="0">
                <a:solidFill>
                  <a:srgbClr val="EAF4F7"/>
                </a:solidFill>
              </a:rPr>
              <a:t>environments.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56B1855-81F2-408A-9802-76CDEED0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8790"/>
                </a:solidFill>
              </a:defRPr>
            </a:pPr>
            <a:r>
              <a:rPr sz="750" b="0">
                <a:solidFill>
                  <a:srgbClr val="6D8790"/>
                </a:solidFill>
              </a:rPr>
              <a:t>Slide content is based on the current Sentinal repository implementation; all visible copy and structure remain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854177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2026-04-23T18:10:27.6640000Z</dcterms:created>
  <dcterms:modified xsi:type="dcterms:W3CDTF">2026-04-23T18:10:27.6640000Z</dcterms:modified>
</coreProperties>
</file>